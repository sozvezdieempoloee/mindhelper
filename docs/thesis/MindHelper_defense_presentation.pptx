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731520"/>
            <a:ext cx="3931920" cy="3931920"/>
          </a:xfrm>
          <a:prstGeom prst="ellipse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1783080"/>
            <a:ext cx="3931920" cy="3931920"/>
          </a:xfrm>
          <a:prstGeom prst="ellipse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834639"/>
            <a:ext cx="3931920" cy="3931920"/>
          </a:xfrm>
          <a:prstGeom prst="ellipse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3657600" cy="4572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0B2D6"/>
                </a:solidFill>
                <a:latin typeface="Aptos"/>
              </a:rPr>
              <a:t>MindHelper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315200" cy="20116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Вопросно-ответная система</a:t>
            </a:r>
            <a:br/>
            <a:r>
              <a:rPr sz="2800" b="1">
                <a:solidFill>
                  <a:srgbClr val="FFFFFF"/>
                </a:solidFill>
                <a:latin typeface="Aptos"/>
              </a:rPr>
              <a:t>для предварительной психологической диагностики</a:t>
            </a:r>
            <a:br/>
            <a:r>
              <a:rPr sz="2800" b="1">
                <a:solidFill>
                  <a:srgbClr val="FFFFFF"/>
                </a:solidFill>
                <a:latin typeface="Aptos"/>
              </a:rPr>
              <a:t>на основе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5669280" cy="6400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8D7E8"/>
                </a:solidFill>
                <a:latin typeface="Aptos"/>
              </a:rPr>
              <a:t>Выпускная работа бакалавра</a:t>
            </a:r>
            <a:br/>
            <a:r>
              <a:rPr sz="1400" b="0">
                <a:solidFill>
                  <a:srgbClr val="C8D7E8"/>
                </a:solidFill>
                <a:latin typeface="Aptos"/>
              </a:rPr>
              <a:t>09.03.02 Информационные системы и технологии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74920"/>
            <a:ext cx="6949440" cy="7772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8F0F8"/>
                </a:solidFill>
                <a:latin typeface="Aptos"/>
              </a:rPr>
              <a:t>Кретов Даниил Владимирович</a:t>
            </a:r>
            <a:br/>
            <a:r>
              <a:rPr sz="1100" b="0">
                <a:solidFill>
                  <a:srgbClr val="E8F0F8"/>
                </a:solidFill>
                <a:latin typeface="Aptos"/>
              </a:rPr>
              <a:t>Кафедра программирования и информационных технологий</a:t>
            </a:r>
            <a:br/>
            <a:r>
              <a:rPr sz="1100" b="0">
                <a:solidFill>
                  <a:srgbClr val="E8F0F8"/>
                </a:solidFill>
                <a:latin typeface="Aptos"/>
              </a:rPr>
              <a:t>Научный руководитель: Шишко Ю.В., ассистент кафедры</a:t>
            </a:r>
          </a:p>
        </p:txBody>
      </p:sp>
      <p:pic>
        <p:nvPicPr>
          <p:cNvPr id="9" name="Picture 8" descr="03_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4649429"/>
            <a:ext cx="2743200" cy="7138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46920" y="617220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C8D7E8"/>
                </a:solidFill>
                <a:latin typeface="Aptos"/>
              </a:rPr>
              <a:t>Воронеж,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Актуальность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Психологическая поддержка требует доступности, но нейросеть должна быть ограничена безопасностью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2739"/>
                </a:solidFill>
                <a:latin typeface="Aptos"/>
              </a:defRPr>
            </a:pPr>
            <a:r>
              <a:t>Пользователь может не обращаться к специалисту сразу и нуждается в первичном безопасном контакте.</a:t>
            </a:r>
          </a:p>
          <a:p>
            <a:pPr>
              <a:spcAft>
                <a:spcPts val="800"/>
              </a:spcAft>
              <a:defRPr sz="1700">
                <a:solidFill>
                  <a:srgbClr val="1B2739"/>
                </a:solidFill>
                <a:latin typeface="Aptos"/>
              </a:defRPr>
            </a:pPr>
            <a:r>
              <a:t>LLM умеет вести естественный диалог, но может неверно распознать риск или дать неподходящий совет.</a:t>
            </a:r>
          </a:p>
          <a:p>
            <a:pPr>
              <a:spcAft>
                <a:spcPts val="800"/>
              </a:spcAft>
              <a:defRPr sz="1700">
                <a:solidFill>
                  <a:srgbClr val="1B2739"/>
                </a:solidFill>
                <a:latin typeface="Aptos"/>
              </a:defRPr>
            </a:pPr>
            <a:r>
              <a:t>Нужна система, где модель помогает, но не принимает критические решения без safety-контура.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874519"/>
            <a:ext cx="4389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48840"/>
            <a:ext cx="3749039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C192D"/>
                </a:solidFill>
                <a:latin typeface="Aptos"/>
              </a:rPr>
              <a:t>Ключевое противоречие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743200"/>
            <a:ext cx="2057400" cy="411480"/>
          </a:xfrm>
          <a:prstGeom prst="round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естественный диалог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3657600"/>
            <a:ext cx="1737360" cy="411480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контроль риска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43800" y="3246120"/>
            <a:ext cx="2743200" cy="411480"/>
          </a:xfrm>
          <a:prstGeom prst="rightArrow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160520"/>
            <a:ext cx="356616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C6C80"/>
                </a:solidFill>
                <a:latin typeface="Aptos"/>
              </a:rPr>
              <a:t>решение: гибридная архитектура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Цель и задачи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Сервис первичной поддержки: веб-интерфейс, Telegram-бот, база данных, LLM и safety-flow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0292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84831"/>
            <a:ext cx="128016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1674C8"/>
                </a:solidFill>
                <a:latin typeface="Aptos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4389120" cy="1417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B2739"/>
                </a:solidFill>
                <a:latin typeface="Aptos"/>
              </a:rPr>
              <a:t>Разработать вопросно-ответную систему, которая повышает доступность первичной психологической поддержки и снижает риск вредных ответов нейросети.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30552"/>
            <a:ext cx="45720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спроектировать ER-модель и PostgreSQL-базу;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реализовать backend, frontend и Telegram-бот;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интегрировать Qwen3 через Ollama;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построить safety-flow и провести тестирование.</a:t>
            </a:r>
          </a:p>
        </p:txBody>
      </p:sp>
      <p:pic>
        <p:nvPicPr>
          <p:cNvPr id="11" name="Picture 10" descr="02_message_proce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148" y="4892040"/>
            <a:ext cx="452663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Выбор нейросетевой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В ходе исследования Qwen3 выбрана как практичный вариант для локального запуска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7899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C192D"/>
                          </a:solidFill>
                          <a:latin typeface="Aptos"/>
                        </a:rPr>
                        <a:t>Критерий</a:t>
                      </a:r>
                    </a:p>
                  </a:txBody>
                  <a:tcPr anchor="ctr" marL="73152" marR="73152">
                    <a:solidFill>
                      <a:srgbClr val="E4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C192D"/>
                          </a:solidFill>
                          <a:latin typeface="Aptos"/>
                        </a:rPr>
                        <a:t>ChatGPT</a:t>
                      </a:r>
                    </a:p>
                  </a:txBody>
                  <a:tcPr anchor="ctr" marL="73152" marR="73152">
                    <a:solidFill>
                      <a:srgbClr val="E4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C192D"/>
                          </a:solidFill>
                          <a:latin typeface="Aptos"/>
                        </a:rPr>
                        <a:t>Qwen3</a:t>
                      </a:r>
                    </a:p>
                  </a:txBody>
                  <a:tcPr anchor="ctr" marL="73152" marR="73152">
                    <a:solidFill>
                      <a:srgbClr val="E4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C192D"/>
                          </a:solidFill>
                          <a:latin typeface="Aptos"/>
                        </a:rPr>
                        <a:t>Llama</a:t>
                      </a:r>
                    </a:p>
                  </a:txBody>
                  <a:tcPr anchor="ctr" marL="73152" marR="73152">
                    <a:solidFill>
                      <a:srgbClr val="E4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C192D"/>
                          </a:solidFill>
                          <a:latin typeface="Aptos"/>
                        </a:rPr>
                        <a:t>Gemma</a:t>
                      </a:r>
                    </a:p>
                  </a:txBody>
                  <a:tcPr anchor="ctr" marL="73152" marR="73152">
                    <a:solidFill>
                      <a:srgbClr val="E4F1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Диалог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высокий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высокий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средний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средний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Контроль данных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внешний API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локально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локально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локально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Русский язык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высокий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хороший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средний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средний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Интеграция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зависимость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Ollama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сложнее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ограниченно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Итог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не локально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B2739"/>
                          </a:solidFill>
                          <a:latin typeface="Aptos"/>
                        </a:rPr>
                        <a:t>выбрана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резерв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2739"/>
                          </a:solidFill>
                          <a:latin typeface="Aptos"/>
                        </a:rPr>
                        <a:t>резерв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800600" y="5349240"/>
            <a:ext cx="2560320" cy="411480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Qwen3 + 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Общая архитектура сервиса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Веб-сайт и Telegram-бот используют единый backend и общую базу данных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54680"/>
            <a:ext cx="662940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1828800"/>
            <a:ext cx="3794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единый chat-сервис для сайта и Telegram;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PostgreSQL хранит пользователей, сообщения, события риска и справочники;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нейросеть вызывается только после маршрутизации безопасности;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администратор управляет моделью и актуальной информацией.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База данных обеспечивает историю диалога, аудит и управляемость справочников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er_model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46" y="1600200"/>
            <a:ext cx="5991947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09560" y="1783080"/>
            <a:ext cx="32461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05740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1B2739"/>
                </a:solidFill>
                <a:latin typeface="Aptos"/>
              </a:defRPr>
            </a:pPr>
            <a:r>
              <a:t>user_chat — один чат пользователя;</a:t>
            </a:r>
          </a:p>
          <a:p>
            <a:pPr>
              <a:spcAft>
                <a:spcPts val="800"/>
              </a:spcAft>
              <a:defRPr sz="1320">
                <a:solidFill>
                  <a:srgbClr val="1B2739"/>
                </a:solidFill>
                <a:latin typeface="Aptos"/>
              </a:defRPr>
            </a:pPr>
            <a:r>
              <a:t>chat_message — полная история диалога;</a:t>
            </a:r>
          </a:p>
          <a:p>
            <a:pPr>
              <a:spcAft>
                <a:spcPts val="800"/>
              </a:spcAft>
              <a:defRPr sz="1320">
                <a:solidFill>
                  <a:srgbClr val="1B2739"/>
                </a:solidFill>
                <a:latin typeface="Aptos"/>
              </a:defRPr>
            </a:pPr>
            <a:r>
              <a:t>crisis_event — события риска;</a:t>
            </a:r>
          </a:p>
          <a:p>
            <a:pPr>
              <a:spcAft>
                <a:spcPts val="800"/>
              </a:spcAft>
              <a:defRPr sz="1320">
                <a:solidFill>
                  <a:srgbClr val="1B2739"/>
                </a:solidFill>
                <a:latin typeface="Aptos"/>
              </a:defRPr>
            </a:pPr>
            <a:r>
              <a:t>emergency_resource — проверенные контакты помощи;</a:t>
            </a:r>
          </a:p>
          <a:p>
            <a:pPr>
              <a:spcAft>
                <a:spcPts val="800"/>
              </a:spcAft>
              <a:defRPr sz="1320">
                <a:solidFill>
                  <a:srgbClr val="1B2739"/>
                </a:solidFill>
                <a:latin typeface="Aptos"/>
              </a:defRPr>
            </a:pPr>
            <a:r>
              <a:t>neural_model_version — версия модели.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Что находится под капотом Qwen3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Модель генерирует текст по токенам, но safety-решение принимает не она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qwen_under_the_h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795" y="1691640"/>
            <a:ext cx="4917929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828800"/>
            <a:ext cx="3977639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48840"/>
            <a:ext cx="33832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decoder-only Transformer;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токенизация текста;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контекст диалога;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system prompt и policy layer;</a:t>
            </a:r>
          </a:p>
          <a:p>
            <a:pPr>
              <a:spcAft>
                <a:spcPts val="800"/>
              </a:spcAft>
              <a:defRPr sz="1500">
                <a:solidFill>
                  <a:srgbClr val="1B2739"/>
                </a:solidFill>
                <a:latin typeface="Aptos"/>
              </a:defRPr>
            </a:pPr>
            <a:r>
              <a:t>локальный запуск через Ollama.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Safety-flow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Критический риск обрабатывается без свободной генерации модели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30547"/>
            <a:ext cx="6400800" cy="16655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874519"/>
            <a:ext cx="1508760" cy="411480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874519"/>
            <a:ext cx="1508760" cy="411480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elevated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606039"/>
            <a:ext cx="1508760" cy="411480"/>
          </a:xfrm>
          <a:prstGeom prst="round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606039"/>
            <a:ext cx="1508760" cy="411480"/>
          </a:xfrm>
          <a:prstGeom prst="round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33756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B2739"/>
                </a:solidFill>
                <a:latin typeface="Aptos"/>
              </a:defRPr>
            </a:pPr>
            <a:r>
              <a:t>low/elevated: практический совет + ограничения;</a:t>
            </a:r>
          </a:p>
          <a:p>
            <a:pPr>
              <a:spcAft>
                <a:spcPts val="800"/>
              </a:spcAft>
              <a:defRPr sz="1450">
                <a:solidFill>
                  <a:srgbClr val="1B2739"/>
                </a:solidFill>
                <a:latin typeface="Aptos"/>
              </a:defRPr>
            </a:pPr>
            <a:r>
              <a:t>high: уточняющий ASQ-сценарий;</a:t>
            </a:r>
          </a:p>
          <a:p>
            <a:pPr>
              <a:spcAft>
                <a:spcPts val="800"/>
              </a:spcAft>
              <a:defRPr sz="1450">
                <a:solidFill>
                  <a:srgbClr val="1B2739"/>
                </a:solidFill>
                <a:latin typeface="Aptos"/>
              </a:defRPr>
            </a:pPr>
            <a:r>
              <a:t>critical: шаблонный ответ и экстренные ресурсы из БД.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Формирование ответа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Ответ модели проходит prompt-policy и response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respons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0631"/>
            <a:ext cx="6400800" cy="74825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52360" y="1783080"/>
            <a:ext cx="3749039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057400"/>
            <a:ext cx="3154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B2739"/>
                </a:solidFill>
                <a:latin typeface="Aptos"/>
              </a:defRPr>
            </a:pPr>
            <a:r>
              <a:t>модель не ставит диагноз;</a:t>
            </a:r>
          </a:p>
          <a:p>
            <a:pPr>
              <a:spcAft>
                <a:spcPts val="800"/>
              </a:spcAft>
              <a:defRPr sz="1400">
                <a:solidFill>
                  <a:srgbClr val="1B2739"/>
                </a:solidFill>
                <a:latin typeface="Aptos"/>
              </a:defRPr>
            </a:pPr>
            <a:r>
              <a:t>не назначает лекарства;</a:t>
            </a:r>
          </a:p>
          <a:p>
            <a:pPr>
              <a:spcAft>
                <a:spcPts val="800"/>
              </a:spcAft>
              <a:defRPr sz="1400">
                <a:solidFill>
                  <a:srgbClr val="1B2739"/>
                </a:solidFill>
                <a:latin typeface="Aptos"/>
              </a:defRPr>
            </a:pPr>
            <a:r>
              <a:t>не выдумывает контакты помощи;</a:t>
            </a:r>
          </a:p>
          <a:p>
            <a:pPr>
              <a:spcAft>
                <a:spcPts val="800"/>
              </a:spcAft>
              <a:defRPr sz="1400">
                <a:solidFill>
                  <a:srgbClr val="1B2739"/>
                </a:solidFill>
                <a:latin typeface="Aptos"/>
              </a:defRPr>
            </a:pPr>
            <a:r>
              <a:t>не отвечает свободно в critical-сценарии;</a:t>
            </a:r>
          </a:p>
          <a:p>
            <a:pPr>
              <a:spcAft>
                <a:spcPts val="800"/>
              </a:spcAft>
              <a:defRPr sz="1400">
                <a:solidFill>
                  <a:srgbClr val="1B2739"/>
                </a:solidFill>
                <a:latin typeface="Aptos"/>
              </a:defRPr>
            </a:pPr>
            <a:r>
              <a:t>сохраняет аудит маршрута.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Программная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MindHelper реализован как полноценный сервис, а не отдельный чат-бот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2331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148840"/>
            <a:ext cx="1691640" cy="411480"/>
          </a:xfrm>
          <a:prstGeom prst="round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1828800" cy="1417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2739"/>
                </a:solidFill>
                <a:latin typeface="Aptos"/>
              </a:rPr>
              <a:t>Django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DRF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сервисный слой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874519"/>
            <a:ext cx="2331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148840"/>
            <a:ext cx="1691640" cy="411480"/>
          </a:xfrm>
          <a:prstGeom prst="round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788920"/>
            <a:ext cx="1828800" cy="1417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2739"/>
                </a:solidFill>
                <a:latin typeface="Aptos"/>
              </a:rPr>
              <a:t>React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чат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каталог специалистов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2331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148840"/>
            <a:ext cx="1691640" cy="411480"/>
          </a:xfrm>
          <a:prstGeom prst="round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1828800" cy="1417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2739"/>
                </a:solidFill>
                <a:latin typeface="Aptos"/>
              </a:rPr>
              <a:t>бот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единый chat API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экстренные ресурсы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874519"/>
            <a:ext cx="233172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59" y="2148840"/>
            <a:ext cx="1691640" cy="411480"/>
          </a:xfrm>
          <a:prstGeom prst="round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788920"/>
            <a:ext cx="1828800" cy="1417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1B2739"/>
                </a:solidFill>
                <a:latin typeface="Aptos"/>
              </a:rPr>
              <a:t>версии модели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справочники</a:t>
            </a:r>
            <a:br/>
            <a:r>
              <a:rPr sz="1500" b="0">
                <a:solidFill>
                  <a:srgbClr val="1B2739"/>
                </a:solidFill>
                <a:latin typeface="Aptos"/>
              </a:rPr>
              <a:t>safety-аудит</a:t>
            </a:r>
          </a:p>
        </p:txBody>
      </p:sp>
      <p:pic>
        <p:nvPicPr>
          <p:cNvPr id="18" name="Picture 17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48656"/>
            <a:ext cx="2148840" cy="4297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28800" y="5349240"/>
            <a:ext cx="84124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0C192D"/>
                </a:solidFill>
                <a:latin typeface="Aptos"/>
              </a:rPr>
              <a:t>Все каналы используют одну базу данных и единый safety-flow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Тестирование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Проверялись функции сервиса и опасные сценарии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7432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>
                <a:solidFill>
                  <a:srgbClr val="1B2739"/>
                </a:solidFill>
                <a:latin typeface="Aptos"/>
              </a:rPr>
              <a:t>Функциональные тесты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911095"/>
            <a:ext cx="4937760" cy="201168"/>
          </a:xfrm>
          <a:prstGeom prst="rect">
            <a:avLst/>
          </a:prstGeom>
          <a:solidFill>
            <a:srgbClr val="E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911095"/>
            <a:ext cx="4048963" cy="20116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23960" y="1847088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7"/>
            <a:ext cx="27432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>
                <a:solidFill>
                  <a:srgbClr val="1B2739"/>
                </a:solidFill>
                <a:latin typeface="Aptos"/>
              </a:rPr>
              <a:t>Safety-сценарии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660903"/>
            <a:ext cx="4937760" cy="201168"/>
          </a:xfrm>
          <a:prstGeom prst="rect">
            <a:avLst/>
          </a:prstGeom>
          <a:solidFill>
            <a:srgbClr val="E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660903"/>
            <a:ext cx="4542739" cy="201168"/>
          </a:xfrm>
          <a:prstGeom prst="rect">
            <a:avLst/>
          </a:prstGeom>
          <a:solidFill>
            <a:srgbClr val="CD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596896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74135"/>
            <a:ext cx="27432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>
                <a:solidFill>
                  <a:srgbClr val="1B2739"/>
                </a:solidFill>
                <a:latin typeface="Aptos"/>
              </a:rPr>
              <a:t>Интеграция бота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410711"/>
            <a:ext cx="4937760" cy="201168"/>
          </a:xfrm>
          <a:prstGeom prst="rect">
            <a:avLst/>
          </a:prstGeom>
          <a:solidFill>
            <a:srgbClr val="E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3410711"/>
            <a:ext cx="3752697" cy="201168"/>
          </a:xfrm>
          <a:prstGeom prst="rect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346703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76%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23944"/>
            <a:ext cx="27432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350" b="0">
                <a:solidFill>
                  <a:srgbClr val="1B2739"/>
                </a:solidFill>
                <a:latin typeface="Aptos"/>
              </a:rPr>
              <a:t>Админка и БД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4160520"/>
            <a:ext cx="4937760" cy="201168"/>
          </a:xfrm>
          <a:prstGeom prst="rect">
            <a:avLst/>
          </a:prstGeom>
          <a:solidFill>
            <a:srgbClr val="E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4160520"/>
            <a:ext cx="3950208" cy="201168"/>
          </a:xfrm>
          <a:prstGeom prst="rect">
            <a:avLst/>
          </a:prstGeom>
          <a:solidFill>
            <a:srgbClr val="EB8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096511"/>
            <a:ext cx="73152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80%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691640"/>
            <a:ext cx="1417320" cy="3383280"/>
          </a:xfrm>
          <a:prstGeom prst="roundRect">
            <a:avLst/>
          </a:prstGeom>
          <a:solidFill>
            <a:srgbClr val="0C192D"/>
          </a:solidFill>
          <a:ln w="12700">
            <a:solidFill>
              <a:srgbClr val="0C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2240280"/>
            <a:ext cx="1051560" cy="685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ptos"/>
              </a:rPr>
              <a:t>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907792"/>
            <a:ext cx="1005840" cy="6858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DCE9F6"/>
                </a:solidFill>
                <a:latin typeface="Aptos"/>
              </a:rPr>
              <a:t>теста</a:t>
            </a:r>
            <a:br/>
            <a:r>
              <a:rPr sz="1100" b="0">
                <a:solidFill>
                  <a:srgbClr val="DCE9F6"/>
                </a:solidFill>
                <a:latin typeface="Aptos"/>
              </a:rPr>
              <a:t>пройдено</a:t>
            </a:r>
          </a:p>
        </p:txBody>
      </p:sp>
      <p:pic>
        <p:nvPicPr>
          <p:cNvPr id="25" name="Picture 24" descr="03_safe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084" y="4572000"/>
            <a:ext cx="2635512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5212080"/>
            <a:ext cx="978408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0C192D"/>
                </a:solidFill>
                <a:latin typeface="Aptos"/>
              </a:rPr>
              <a:t>Главный критерий: не пропустить critical-сценарий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789920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C192D"/>
                </a:solidFill>
                <a:latin typeface="Aptos"/>
              </a:rPr>
              <a:t>Результаты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0584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C6C80"/>
                </a:solidFill>
                <a:latin typeface="Aptos"/>
              </a:rPr>
              <a:t>Получен прототип сервиса MindHelper и исследовательский safety-контур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72768"/>
            <a:ext cx="1188720" cy="54864"/>
          </a:xfrm>
          <a:prstGeom prst="rect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83080"/>
            <a:ext cx="201168" cy="201168"/>
          </a:xfrm>
          <a:prstGeom prst="ellipse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19072"/>
            <a:ext cx="1828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50" b="1">
                <a:solidFill>
                  <a:srgbClr val="0C192D"/>
                </a:solidFill>
                <a:latin typeface="Aptos"/>
              </a:rPr>
              <a:t>Сервис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19072"/>
            <a:ext cx="74980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2739"/>
                </a:solidFill>
                <a:latin typeface="Aptos"/>
              </a:rPr>
              <a:t>веб-интерфейс, Telegram-бот, backend API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441448"/>
            <a:ext cx="201168" cy="201168"/>
          </a:xfrm>
          <a:prstGeom prst="ellipse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1828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50" b="1">
                <a:solidFill>
                  <a:srgbClr val="0C192D"/>
                </a:solidFill>
                <a:latin typeface="Aptos"/>
              </a:rPr>
              <a:t>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77440"/>
            <a:ext cx="74980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2739"/>
                </a:solidFill>
                <a:latin typeface="Aptos"/>
              </a:rPr>
              <a:t>PostgreSQL, ER-модель, справочники помощи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099815"/>
            <a:ext cx="201168" cy="201168"/>
          </a:xfrm>
          <a:prstGeom prst="ellipse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828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50" b="1">
                <a:solidFill>
                  <a:srgbClr val="0C192D"/>
                </a:solidFill>
                <a:latin typeface="Aptos"/>
              </a:rPr>
              <a:t>Нейросеть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35808"/>
            <a:ext cx="74980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2739"/>
                </a:solidFill>
                <a:latin typeface="Aptos"/>
              </a:rPr>
              <a:t>Qwen3 через Ollama, версия модели в БД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758184"/>
            <a:ext cx="201168" cy="201168"/>
          </a:xfrm>
          <a:prstGeom prst="ellipse">
            <a:avLst/>
          </a:prstGeom>
          <a:solidFill>
            <a:srgbClr val="167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3694176"/>
            <a:ext cx="1828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50" b="1">
                <a:solidFill>
                  <a:srgbClr val="0C192D"/>
                </a:solidFill>
                <a:latin typeface="Aptos"/>
              </a:rPr>
              <a:t>Безопасность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94176"/>
            <a:ext cx="74980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2739"/>
                </a:solidFill>
                <a:latin typeface="Aptos"/>
              </a:rPr>
              <a:t>risk levels, ASQ-сценарий, audit log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416551"/>
            <a:ext cx="201168" cy="201168"/>
          </a:xfrm>
          <a:prstGeom prst="ellipse">
            <a:avLst/>
          </a:prstGeom>
          <a:solidFill>
            <a:srgbClr val="20B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352544"/>
            <a:ext cx="1828800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50" b="1">
                <a:solidFill>
                  <a:srgbClr val="0C192D"/>
                </a:solidFill>
                <a:latin typeface="Aptos"/>
              </a:rPr>
              <a:t>Тестирование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52544"/>
            <a:ext cx="7498079" cy="2743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B2739"/>
                </a:solidFill>
                <a:latin typeface="Aptos"/>
              </a:rPr>
              <a:t>функциональные и red-team сценарии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892040"/>
            <a:ext cx="3291840" cy="658368"/>
          </a:xfrm>
          <a:prstGeom prst="roundRect">
            <a:avLst/>
          </a:prstGeom>
          <a:solidFill>
            <a:srgbClr val="E4F1FA"/>
          </a:solidFill>
          <a:ln w="12700">
            <a:solidFill>
              <a:srgbClr val="E4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074920"/>
            <a:ext cx="2926080" cy="256032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1050" b="0">
                <a:solidFill>
                  <a:srgbClr val="0C192D"/>
                </a:solidFill>
                <a:latin typeface="Aptos"/>
              </a:rPr>
              <a:t>Основа для дальнейшей экспертной разметки и LoRA-адаптации</a:t>
            </a:r>
          </a:p>
        </p:txBody>
      </p:sp>
      <p:pic>
        <p:nvPicPr>
          <p:cNvPr id="23" name="Picture 22" descr="05_respons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228079"/>
            <a:ext cx="3337560" cy="39016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09960" y="6355080"/>
            <a:ext cx="64008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C6C80"/>
                </a:solidFill>
                <a:latin typeface="Aptos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1828800" cy="22860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C6C80"/>
                </a:solidFill>
                <a:latin typeface="Aptos"/>
              </a:rPr>
              <a:t>MindHelper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7498079" cy="7315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54680"/>
            <a:ext cx="758952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DCE9F6"/>
                </a:solidFill>
                <a:latin typeface="Aptos"/>
              </a:rPr>
              <a:t>MindHelper: вопросно-ответная система предварительной психологической диагностики на основе нейросети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74920"/>
            <a:ext cx="5212080" cy="59436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8D7E8"/>
                </a:solidFill>
                <a:latin typeface="Aptos"/>
              </a:rPr>
              <a:t>Кретов Даниил Владимирович</a:t>
            </a:r>
            <a:br/>
            <a:r>
              <a:rPr sz="1200" b="0">
                <a:solidFill>
                  <a:srgbClr val="C8D7E8"/>
                </a:solidFill>
                <a:latin typeface="Aptos"/>
              </a:rPr>
              <a:t>09.03.02 Информационные системы и технологии</a:t>
            </a:r>
          </a:p>
        </p:txBody>
      </p:sp>
      <p:sp>
        <p:nvSpPr>
          <p:cNvPr id="5" name="Oval 4"/>
          <p:cNvSpPr/>
          <p:nvPr/>
        </p:nvSpPr>
        <p:spPr>
          <a:xfrm>
            <a:off x="8595360" y="1554480"/>
            <a:ext cx="2560320" cy="2560320"/>
          </a:xfrm>
          <a:prstGeom prst="ellipse">
            <a:avLst/>
          </a:prstGeom>
          <a:solidFill>
            <a:srgbClr val="169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88552" y="2404872"/>
            <a:ext cx="1737360" cy="50292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