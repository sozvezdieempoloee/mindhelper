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4CFFF-F679-4AE9-8420-B0D8299379C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03BBF-DA18-44B7-8691-7E0F24AB2F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6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f86e41a9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Уважаемая Государственная экзаменационная комиссия. Позвольте представить вашему вниманию выпускную работу бакалавра по направлению Программная инженерия.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Я, Шишко Юлия Валерьевна, студент кафедры программирования и информационных технологий, научный руководитель - ст.преподаватель кафедры программирования и информационных технологий Соломатин Дмитрий Иванович. Тема работы - Идентификация фишинговых сайтов.</a:t>
            </a:r>
            <a:endParaRPr/>
          </a:p>
        </p:txBody>
      </p:sp>
      <p:sp>
        <p:nvSpPr>
          <p:cNvPr id="52" name="Google Shape;52;g1ff86e41a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6869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f86e41a9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Уважаемая Государственная экзаменационная комиссия. Позвольте представить вашему вниманию выпускную работу бакалавра по направлению Программная инженерия.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Я, Шишко Юлия Валерьевна, студент кафедры программирования и информационных технологий, научный руководитель - ст.преподаватель кафедры программирования и информационных технологий Соломатин Дмитрий Иванович. Тема работы - Идентификация фишинговых сайтов.</a:t>
            </a:r>
            <a:endParaRPr/>
          </a:p>
        </p:txBody>
      </p:sp>
      <p:sp>
        <p:nvSpPr>
          <p:cNvPr id="52" name="Google Shape;52;g1ff86e41a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699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05636" y="2533689"/>
            <a:ext cx="9713345" cy="115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 fontScale="70000" lnSpcReduction="20000"/>
          </a:bodyPr>
          <a:lstStyle/>
          <a:p>
            <a:r>
              <a:rPr lang="ru-RU" sz="4000" b="1" dirty="0">
                <a:latin typeface="Aptos"/>
              </a:rPr>
              <a:t>Вопросно-ответная система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b="1" dirty="0">
                <a:latin typeface="Aptos"/>
              </a:rPr>
              <a:t>для предварительной психологической диагностики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b="1" dirty="0">
                <a:latin typeface="Aptos"/>
              </a:rPr>
              <a:t>на основе </a:t>
            </a:r>
            <a:r>
              <a:rPr lang="ru-RU" sz="4000" b="1" dirty="0" err="1">
                <a:latin typeface="Aptos"/>
              </a:rPr>
              <a:t>нейросети</a:t>
            </a:r>
            <a:endParaRPr lang="ru-RU" sz="4000" b="1" dirty="0">
              <a:latin typeface="Apto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481137" y="510707"/>
            <a:ext cx="9230000" cy="16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 fontScale="85000" lnSpcReduction="10000"/>
          </a:bodyPr>
          <a:lstStyle/>
          <a:p>
            <a:pPr marL="84665" indent="-129537" algn="ctr">
              <a:lnSpc>
                <a:spcPct val="85000"/>
              </a:lnSpc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МИНОБРНАУКИ РОССИИ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ФЕДЕРАЛЬНОЕ ГОСУДАРСТВЕННОЕ БЮДЖЕТНОЕ ОБРАЗОВАТЕЛЬНОЕ УЧРЕЖДЕНИЕ 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ВЫСШЕГО ОБРАЗОВАНИЯ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“ВОРОНЕЖСКИЙ ГОСУДАРСТВЕННЫЙ УНИВЕРСИТЕТ”</a:t>
            </a:r>
            <a:endParaRPr sz="1467" dirty="0"/>
          </a:p>
        </p:txBody>
      </p:sp>
      <p:cxnSp>
        <p:nvCxnSpPr>
          <p:cNvPr id="56" name="Google Shape;56;p13"/>
          <p:cNvCxnSpPr/>
          <p:nvPr/>
        </p:nvCxnSpPr>
        <p:spPr>
          <a:xfrm>
            <a:off x="927313" y="3947111"/>
            <a:ext cx="1033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 txBox="1"/>
          <p:nvPr/>
        </p:nvSpPr>
        <p:spPr>
          <a:xfrm>
            <a:off x="1481137" y="4117175"/>
            <a:ext cx="3644800" cy="7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84665" indent="-118530">
              <a:lnSpc>
                <a:spcPct val="85000"/>
              </a:lnSpc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1867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Выполнил</a:t>
            </a:r>
            <a:endParaRPr sz="1467" dirty="0"/>
          </a:p>
          <a:p>
            <a:pPr marL="84665" indent="-118530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1867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Научный руководитель</a:t>
            </a:r>
            <a:endParaRPr sz="1467" dirty="0"/>
          </a:p>
        </p:txBody>
      </p:sp>
      <p:sp>
        <p:nvSpPr>
          <p:cNvPr id="58" name="Google Shape;58;p13"/>
          <p:cNvSpPr txBox="1"/>
          <p:nvPr/>
        </p:nvSpPr>
        <p:spPr>
          <a:xfrm>
            <a:off x="8626003" y="4477864"/>
            <a:ext cx="1755670" cy="7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err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Шишко</a:t>
            </a: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u-RU" sz="20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Ю.В.</a:t>
            </a:r>
            <a:endParaRPr lang="ru-RU" sz="2000" dirty="0"/>
          </a:p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ассистент</a:t>
            </a:r>
            <a:endParaRPr sz="2000" dirty="0"/>
          </a:p>
        </p:txBody>
      </p:sp>
      <p:sp>
        <p:nvSpPr>
          <p:cNvPr id="59" name="Google Shape;59;p13"/>
          <p:cNvSpPr txBox="1"/>
          <p:nvPr/>
        </p:nvSpPr>
        <p:spPr>
          <a:xfrm>
            <a:off x="4974115" y="6189012"/>
            <a:ext cx="2243996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18530">
              <a:lnSpc>
                <a:spcPct val="85000"/>
              </a:lnSpc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22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Воронеж </a:t>
            </a:r>
            <a:r>
              <a:rPr lang="ru" sz="2200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ru" sz="22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200" dirty="0"/>
          </a:p>
        </p:txBody>
      </p:sp>
      <p:sp>
        <p:nvSpPr>
          <p:cNvPr id="8" name="Google Shape;58;p13"/>
          <p:cNvSpPr txBox="1"/>
          <p:nvPr/>
        </p:nvSpPr>
        <p:spPr>
          <a:xfrm>
            <a:off x="8626003" y="4073264"/>
            <a:ext cx="1909634" cy="41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Кретов </a:t>
            </a:r>
            <a:r>
              <a:rPr lang="ru-RU" sz="20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Д</a:t>
            </a: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.В.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419913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Цифровая поддержка должна быть доступной, но особенно осторожной в кризисных ситуациях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1E2A3E"/>
                </a:solidFill>
                <a:latin typeface="Aptos"/>
              </a:defRPr>
            </a:pPr>
            <a:r>
              <a:t>Пользователь может нуждаться в первичном безопасном контакте до обращения к специалисту.</a:t>
            </a:r>
          </a:p>
          <a:p>
            <a:pPr>
              <a:spcAft>
                <a:spcPts val="700"/>
              </a:spcAft>
              <a:defRPr sz="1550">
                <a:solidFill>
                  <a:srgbClr val="1E2A3E"/>
                </a:solidFill>
                <a:latin typeface="Aptos"/>
              </a:defRPr>
            </a:pPr>
            <a:r>
              <a:t>Большая языковая модель способна вести естественный диалог, но не является врачом и может ошибаться в рискованных случаях.</a:t>
            </a:r>
          </a:p>
          <a:p>
            <a:pPr>
              <a:spcAft>
                <a:spcPts val="700"/>
              </a:spcAft>
              <a:defRPr sz="1550">
                <a:solidFill>
                  <a:srgbClr val="1E2A3E"/>
                </a:solidFill>
                <a:latin typeface="Aptos"/>
              </a:defRPr>
            </a:pPr>
            <a:r>
              <a:t>Для психологической тематики важна не только генерация ответа, но и контролируемая маршрутизация опасных сценариев.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828800"/>
            <a:ext cx="4297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0C192D"/>
                </a:solidFill>
                <a:latin typeface="Aptos"/>
              </a:rPr>
              <a:t>Ключевая идея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514600"/>
            <a:ext cx="1965960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естественный диалог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514600"/>
            <a:ext cx="1783080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проверка риска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55279" y="3182112"/>
            <a:ext cx="1920240" cy="438912"/>
          </a:xfrm>
          <a:prstGeom prst="rightArrow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33488" y="3977639"/>
            <a:ext cx="3063240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безопасная рекомендация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736592"/>
            <a:ext cx="443484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20" b="0">
                <a:solidFill>
                  <a:srgbClr val="5B6C80"/>
                </a:solidFill>
                <a:latin typeface="Aptos"/>
              </a:rPr>
              <a:t>Система строится как управляемый сервис, где нейросеть помогает в диалоге, а safety-контур ограничивает опасные ответы.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Цель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Цель уточнена как инженерная и исследовательская: помощь пользователю плюс контроль безопасности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52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474CD"/>
                </a:solidFill>
                <a:latin typeface="Aptos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56231"/>
            <a:ext cx="91897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1E2A3E"/>
                </a:solidFill>
                <a:latin typeface="Aptos"/>
              </a:rPr>
              <a:t>Разработать прототип вопросно-ответной системы, повышающей доступность первичной психологической поддержки за счёт локально интегрированной нейросети и формализованного safety-контура, который снижает риск вредных рекомендаций и обеспечивает фиксацию критических сценариев.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93008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Проанализировать предметную область и риски применения LLM в психологической поддержке.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70248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42816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Спроектировать ER-модель, PostgreSQL-базу и хранение истории диалога.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020056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92624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Реализовать веб-интерфейс, Django backend и Telegram-бот как единый chat-сервис.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93008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Интегрировать Qwen3 через Ollama и хранить сведения о версии модели в БД.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270248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42816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Построить safety-flow: уровни риска, ASQ-сценарий, policy layer и аудит маршрутов.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020056"/>
            <a:ext cx="384048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92624"/>
            <a:ext cx="46177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20" b="0">
                <a:solidFill>
                  <a:srgbClr val="1E2A3E"/>
                </a:solidFill>
                <a:latin typeface="Aptos"/>
              </a:rPr>
              <a:t>Провести функциональное, интеграционное и red-team тестирование опасных сценариев.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Выбор нейросетевой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Сравнение проводилось по применимости к локальному сервису психологической поддержки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06304"/>
              </p:ext>
            </p:extLst>
          </p:nvPr>
        </p:nvGraphicFramePr>
        <p:xfrm>
          <a:off x="566928" y="1755648"/>
          <a:ext cx="110642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C192D"/>
                          </a:solidFill>
                          <a:latin typeface="Aptos"/>
                        </a:rPr>
                        <a:t>Модель</a:t>
                      </a:r>
                    </a:p>
                  </a:txBody>
                  <a:tcPr marL="36576" marR="36576" marT="18288" marB="18288" anchor="ctr">
                    <a:solidFill>
                      <a:srgbClr val="E2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C192D"/>
                          </a:solidFill>
                          <a:latin typeface="Aptos"/>
                        </a:rPr>
                        <a:t>Параметры / слои</a:t>
                      </a:r>
                    </a:p>
                  </a:txBody>
                  <a:tcPr marL="36576" marR="36576" marT="18288" marB="18288" anchor="ctr">
                    <a:solidFill>
                      <a:srgbClr val="E2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C192D"/>
                          </a:solidFill>
                          <a:latin typeface="Aptos"/>
                        </a:rPr>
                        <a:t>Контекст</a:t>
                      </a:r>
                    </a:p>
                  </a:txBody>
                  <a:tcPr marL="36576" marR="36576" marT="18288" marB="18288" anchor="ctr">
                    <a:solidFill>
                      <a:srgbClr val="E2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C192D"/>
                          </a:solidFill>
                          <a:latin typeface="Aptos"/>
                        </a:rPr>
                        <a:t>Локальный запуск</a:t>
                      </a:r>
                    </a:p>
                  </a:txBody>
                  <a:tcPr marL="36576" marR="36576" marT="18288" marB="18288" anchor="ctr">
                    <a:solidFill>
                      <a:srgbClr val="E2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C192D"/>
                          </a:solidFill>
                          <a:latin typeface="Aptos"/>
                        </a:rPr>
                        <a:t>Вывод для проекта</a:t>
                      </a:r>
                    </a:p>
                  </a:txBody>
                  <a:tcPr marL="36576" marR="36576" marT="18288" marB="18288" anchor="ctr">
                    <a:solidFill>
                      <a:srgbClr val="E2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1" dirty="0">
                          <a:solidFill>
                            <a:srgbClr val="1E2A3E"/>
                          </a:solidFill>
                          <a:latin typeface="Aptos"/>
                        </a:rPr>
                        <a:t>Qwen3-8B</a:t>
                      </a:r>
                    </a:p>
                  </a:txBody>
                  <a:tcPr marL="36576" marR="36576" marT="18288" marB="18288" anchor="ctr">
                    <a:solidFill>
                      <a:srgbClr val="D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8,2B / 36</a:t>
                      </a:r>
                    </a:p>
                  </a:txBody>
                  <a:tcPr marL="36576" marR="36576" marT="18288" marB="18288" anchor="ctr">
                    <a:solidFill>
                      <a:srgbClr val="DE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40 960 токенов</a:t>
                      </a:r>
                    </a:p>
                  </a:txBody>
                  <a:tcPr marL="36576" marR="36576" marT="18288" marB="18288" anchor="ctr">
                    <a:solidFill>
                      <a:srgbClr val="DE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Ollama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, 4-bit;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подходит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 smtClean="0">
                          <a:solidFill>
                            <a:srgbClr val="1E2A3E"/>
                          </a:solidFill>
                          <a:latin typeface="Aptos"/>
                        </a:rPr>
                        <a:t>для</a:t>
                      </a:r>
                      <a:r>
                        <a:rPr lang="ru-RU" sz="869" b="0" baseline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 средних видеокарт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DE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выбрана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: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баланс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качества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,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русского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диалога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и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управляемости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DE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Llama 3.1 8B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8B / 32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128K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возможен, но лицензия и русская специализация менее удобны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резервный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вариант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lang="en-US"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Chat-GPT-4o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не раскрыты </a:t>
                      </a:r>
                      <a:r>
                        <a:rPr lang="en-US" sz="869" b="0" dirty="0" err="1" smtClean="0">
                          <a:solidFill>
                            <a:srgbClr val="1E2A3E"/>
                          </a:solidFill>
                          <a:latin typeface="Aptos"/>
                        </a:rPr>
                        <a:t>OpenAI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12</a:t>
                      </a:r>
                      <a:r>
                        <a:rPr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8K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Нет</a:t>
                      </a:r>
                      <a:r>
                        <a:rPr lang="ru-RU" sz="869" b="0" baseline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 локального доступа, только через </a:t>
                      </a:r>
                      <a:r>
                        <a:rPr lang="en-US" sz="869" b="0" baseline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API </a:t>
                      </a:r>
                      <a:r>
                        <a:rPr lang="ru-RU" sz="869" b="0" baseline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ключ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69" b="0" dirty="0" smtClean="0">
                          <a:solidFill>
                            <a:srgbClr val="1E2A3E"/>
                          </a:solidFill>
                          <a:latin typeface="Aptos"/>
                        </a:rPr>
                        <a:t>не подходит как основная из-за закрытой архитектуры, внешнего API и передачи данных провайдеру</a:t>
                      </a:r>
                      <a:endParaRPr sz="869" b="0" dirty="0">
                        <a:solidFill>
                          <a:srgbClr val="1E2A3E"/>
                        </a:solidFill>
                        <a:latin typeface="Aptos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Mistral 7B v0.3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7B / 32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32K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1E2A3E"/>
                          </a:solidFill>
                          <a:latin typeface="Aptos"/>
                        </a:rPr>
                        <a:t>лёгкий запуск, Apache 2.0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хорош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как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</a:t>
                      </a:r>
                      <a:r>
                        <a:rPr sz="869" b="0" dirty="0" err="1">
                          <a:solidFill>
                            <a:srgbClr val="1E2A3E"/>
                          </a:solidFill>
                          <a:latin typeface="Aptos"/>
                        </a:rPr>
                        <a:t>быстрый</a:t>
                      </a:r>
                      <a:r>
                        <a:rPr sz="869" b="0" dirty="0">
                          <a:solidFill>
                            <a:srgbClr val="1E2A3E"/>
                          </a:solidFill>
                          <a:latin typeface="Aptos"/>
                        </a:rPr>
                        <a:t> baseline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96128"/>
            <a:ext cx="106984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20" b="0">
                <a:solidFill>
                  <a:srgbClr val="5B6C80"/>
                </a:solidFill>
                <a:latin typeface="Aptos"/>
              </a:rPr>
              <a:t>Критерии выбора: архитектурная ёмкость, длина контекста, возможность локального запуска, качество русскоязычного диалога, интеграция с safety-контуром.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Общая архитектура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Сайт и Telegram-бот работают через единый backend, поэтому логика безопасности не дублируется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724" y="2089404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3816" y="2203704"/>
            <a:ext cx="1545336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Пользователь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173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79192" y="1563624"/>
            <a:ext cx="1545336" cy="384048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 /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7889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79192" y="2935224"/>
            <a:ext cx="1545336" cy="384048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Telegram-бот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05740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56632" y="2203704"/>
            <a:ext cx="1545336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Django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4173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59752" y="1563624"/>
            <a:ext cx="1545336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Chat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7889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59752" y="2935224"/>
            <a:ext cx="1545336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Safety router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4173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45752" y="1563624"/>
            <a:ext cx="1545336" cy="384048"/>
          </a:xfrm>
          <a:prstGeom prst="round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Ollama + Qwen3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788920"/>
            <a:ext cx="1691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45752" y="2935224"/>
            <a:ext cx="1545336" cy="384048"/>
          </a:xfrm>
          <a:prstGeom prst="round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057400" y="1737360"/>
            <a:ext cx="548640" cy="649224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57400" y="2386584"/>
            <a:ext cx="548640" cy="722376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97680" y="1737360"/>
            <a:ext cx="685800" cy="59436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297680" y="2331720"/>
            <a:ext cx="685800" cy="77724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75120" y="1737360"/>
            <a:ext cx="411480" cy="59436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75120" y="2331720"/>
            <a:ext cx="411480" cy="77724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78240" y="1737360"/>
            <a:ext cx="594360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78240" y="3108960"/>
            <a:ext cx="594360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4224978"/>
            <a:ext cx="2057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 err="1">
                <a:solidFill>
                  <a:srgbClr val="0C192D"/>
                </a:solidFill>
                <a:latin typeface="Aptos"/>
              </a:rPr>
              <a:t>Принцип</a:t>
            </a:r>
            <a:r>
              <a:rPr sz="1600" b="1" dirty="0">
                <a:solidFill>
                  <a:srgbClr val="0C192D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C192D"/>
                </a:solidFill>
                <a:latin typeface="Aptos"/>
              </a:rPr>
              <a:t>реализации</a:t>
            </a:r>
            <a:endParaRPr sz="1600" b="1" dirty="0">
              <a:solidFill>
                <a:srgbClr val="0C192D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49112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E2A3E"/>
                </a:solidFill>
                <a:latin typeface="Aptos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240">
                <a:solidFill>
                  <a:srgbClr val="1E2A3E"/>
                </a:solidFill>
                <a:latin typeface="Aptos"/>
              </a:defRPr>
            </a:pPr>
            <a:r>
              <a:rPr dirty="0" err="1"/>
              <a:t>история</a:t>
            </a:r>
            <a:r>
              <a:rPr dirty="0"/>
              <a:t> и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сохраняются</a:t>
            </a:r>
            <a:r>
              <a:rPr dirty="0"/>
              <a:t> в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240">
                <a:solidFill>
                  <a:srgbClr val="1E2A3E"/>
                </a:solidFill>
                <a:latin typeface="Aptos"/>
              </a:defRPr>
            </a:pPr>
            <a:r>
              <a:rPr dirty="0" err="1"/>
              <a:t>нейросеть</a:t>
            </a:r>
            <a:r>
              <a:rPr dirty="0"/>
              <a:t> </a:t>
            </a:r>
            <a:r>
              <a:rPr dirty="0" err="1"/>
              <a:t>вызывается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входного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240">
                <a:solidFill>
                  <a:srgbClr val="1E2A3E"/>
                </a:solidFill>
                <a:latin typeface="Aptos"/>
              </a:defRPr>
            </a:pPr>
            <a:r>
              <a:rPr dirty="0" err="1"/>
              <a:t>критические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отдаются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свободную</a:t>
            </a:r>
            <a:r>
              <a:rPr dirty="0"/>
              <a:t> </a:t>
            </a:r>
            <a:r>
              <a:rPr dirty="0" err="1"/>
              <a:t>генерацию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ER-модель: пользователь, канал и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Диаграмма разбита на блоки, чтобы показать назначение сущностей без перегрузки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3642" y="1828800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3642" y="1828800"/>
            <a:ext cx="2057400" cy="420624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user_account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370" y="2359152"/>
            <a:ext cx="1837943" cy="12070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email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password_hash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role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2834" y="1828800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02834" y="1828800"/>
            <a:ext cx="2057400" cy="420624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channel_account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562" y="2359152"/>
            <a:ext cx="1837943" cy="12070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user_id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channel_type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external_id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display_name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4594" y="1828800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54594" y="1828800"/>
            <a:ext cx="2057400" cy="420624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user_chat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4322" y="2359152"/>
            <a:ext cx="1837943" cy="12070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user_id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status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created_at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updated_at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9648" y="1828800"/>
            <a:ext cx="2057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49648" y="1828800"/>
            <a:ext cx="2057400" cy="420624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chat_message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9376" y="2359152"/>
            <a:ext cx="1837943" cy="12070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chat_id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sender_type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content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created_at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90186" y="2743200"/>
            <a:ext cx="612648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60234" y="2743200"/>
            <a:ext cx="594360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endCxn id="15" idx="1"/>
          </p:cNvCxnSpPr>
          <p:nvPr/>
        </p:nvCxnSpPr>
        <p:spPr>
          <a:xfrm>
            <a:off x="7711994" y="2743200"/>
            <a:ext cx="437654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31234" y="4151376"/>
            <a:ext cx="2743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31234" y="4151376"/>
            <a:ext cx="2743200" cy="420624"/>
          </a:xfrm>
          <a:prstGeom prst="round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Aptos"/>
              </a:rPr>
              <a:t>neural_model_version</a:t>
            </a:r>
            <a:endParaRPr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40963" y="4681728"/>
            <a:ext cx="2523744" cy="9784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provider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model_name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version_tag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is_active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782" y="4433208"/>
            <a:ext cx="3285039" cy="794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30" b="0" dirty="0" err="1">
                <a:solidFill>
                  <a:srgbClr val="5B6C80"/>
                </a:solidFill>
                <a:latin typeface="Aptos"/>
              </a:rPr>
              <a:t>Каждый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ответ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ассистента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может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быть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связан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с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актуальной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версией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модели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.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Это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нужно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для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воспроизводимости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тестов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и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анализа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качества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5B6C80"/>
                </a:solidFill>
                <a:latin typeface="Aptos"/>
              </a:rPr>
              <a:t>ответов</a:t>
            </a:r>
            <a:r>
              <a:rPr sz="1230" b="0" dirty="0">
                <a:solidFill>
                  <a:srgbClr val="5B6C80"/>
                </a:solidFill>
                <a:latin typeface="Apto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06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048" y="228043"/>
            <a:ext cx="1981904" cy="60818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ER-модель: безопасность и справочники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Отдельный блок хранит маршруты риска, проверенные ресурсы помощи и данные для интерфейса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2331720" cy="420624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crisis_event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13432"/>
            <a:ext cx="2112263" cy="134416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chat_id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message_id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risk_level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screening_status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783080"/>
            <a:ext cx="25603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47872" y="1783080"/>
            <a:ext cx="2560320" cy="420624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safety_route_audit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13432"/>
            <a:ext cx="2340863" cy="134416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event_id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route_code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escalation_action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human_review_flag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78308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01968" y="1783080"/>
            <a:ext cx="2331720" cy="420624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emergency_resource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13432"/>
            <a:ext cx="2112263" cy="134416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title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phone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region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is_active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78308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72600" y="1783080"/>
            <a:ext cx="2331720" cy="420624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specialist_location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313432"/>
            <a:ext cx="2112263" cy="134416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69" b="0">
                <a:solidFill>
                  <a:srgbClr val="1E2A3E"/>
                </a:solidFill>
                <a:latin typeface="Aptos"/>
              </a:rPr>
              <a:t>id UUID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specialist_id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address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latitude</a:t>
            </a:r>
            <a:r>
              <a:t/>
            </a:r>
            <a:br/>
            <a:r>
              <a:rPr sz="969" b="0">
                <a:solidFill>
                  <a:srgbClr val="1E2A3E"/>
                </a:solidFill>
                <a:latin typeface="Aptos"/>
              </a:rPr>
              <a:t>longitude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81528" y="2743200"/>
            <a:ext cx="466344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08192" y="2743200"/>
            <a:ext cx="493776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33688" y="2743200"/>
            <a:ext cx="438912" cy="0"/>
          </a:xfrm>
          <a:prstGeom prst="line">
            <a:avLst/>
          </a:prstGeom>
          <a:ln w="25400">
            <a:solidFill>
              <a:srgbClr val="147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" y="4407408"/>
            <a:ext cx="10012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617720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474CD"/>
                </a:solidFill>
                <a:latin typeface="Aptos"/>
              </a:rPr>
              <a:t>Зачем это нужно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553712"/>
            <a:ext cx="781812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 dirty="0" err="1">
                <a:solidFill>
                  <a:srgbClr val="1E2A3E"/>
                </a:solidFill>
                <a:latin typeface="Aptos"/>
              </a:rPr>
              <a:t>Свободный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текст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модели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не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используется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как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единственный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источник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решения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: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база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хранит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факт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риска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,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маршрут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обработки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,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действие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эскалации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и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проверенные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контакты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помощи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,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которые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показываются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пользователю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на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E2A3E"/>
                </a:solidFill>
                <a:latin typeface="Aptos"/>
              </a:rPr>
              <a:t>сайте</a:t>
            </a:r>
            <a:r>
              <a:rPr sz="1250" b="0" dirty="0">
                <a:solidFill>
                  <a:srgbClr val="1E2A3E"/>
                </a:solidFill>
                <a:latin typeface="Aptos"/>
              </a:rPr>
              <a:t> и в Telegram.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 dirty="0" err="1">
                <a:solidFill>
                  <a:srgbClr val="0C192D"/>
                </a:solidFill>
                <a:latin typeface="Aptos"/>
              </a:rPr>
              <a:t>Что</a:t>
            </a:r>
            <a:r>
              <a:rPr sz="2700" b="1" dirty="0">
                <a:solidFill>
                  <a:srgbClr val="0C19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0C192D"/>
                </a:solidFill>
                <a:latin typeface="Aptos"/>
              </a:rPr>
              <a:t>находится</a:t>
            </a:r>
            <a:r>
              <a:rPr sz="2700" b="1" dirty="0">
                <a:solidFill>
                  <a:srgbClr val="0C192D"/>
                </a:solidFill>
                <a:latin typeface="Aptos"/>
              </a:rPr>
              <a:t> </a:t>
            </a:r>
            <a:r>
              <a:rPr lang="ru-RU" sz="2700" b="1" dirty="0" smtClean="0">
                <a:solidFill>
                  <a:srgbClr val="0C192D"/>
                </a:solidFill>
                <a:latin typeface="Aptos"/>
              </a:rPr>
              <a:t>в </a:t>
            </a:r>
            <a:r>
              <a:rPr lang="ru-RU" sz="2700" b="1" dirty="0" err="1" smtClean="0">
                <a:solidFill>
                  <a:srgbClr val="0C192D"/>
                </a:solidFill>
                <a:latin typeface="Aptos"/>
              </a:rPr>
              <a:t>нейросетевом</a:t>
            </a:r>
            <a:r>
              <a:rPr lang="ru-RU" sz="2700" b="1" dirty="0" smtClean="0">
                <a:solidFill>
                  <a:srgbClr val="0C192D"/>
                </a:solidFill>
                <a:latin typeface="Aptos"/>
              </a:rPr>
              <a:t> модуле </a:t>
            </a:r>
            <a:r>
              <a:rPr sz="2700" b="1" dirty="0" smtClean="0">
                <a:solidFill>
                  <a:srgbClr val="0C192D"/>
                </a:solidFill>
                <a:latin typeface="Aptos"/>
              </a:rPr>
              <a:t>Qwen3</a:t>
            </a:r>
            <a:endParaRPr sz="2700" b="1" dirty="0">
              <a:solidFill>
                <a:srgbClr val="0C192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Нейросеть рассматривается как генератор текста, а не как автономный диагностический механизм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2057400"/>
            <a:ext cx="2057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7824" y="2267712"/>
            <a:ext cx="1728216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Токенизация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80360"/>
            <a:ext cx="171907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40" b="0">
                <a:solidFill>
                  <a:srgbClr val="1E2A3E"/>
                </a:solidFill>
                <a:latin typeface="Aptos"/>
              </a:rPr>
              <a:t>фраза пользователя превращается в последовательность токенов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2057400"/>
            <a:ext cx="2057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63824" y="2267712"/>
            <a:ext cx="1728216" cy="384048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Transformer decoder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880360"/>
            <a:ext cx="171907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40" b="0">
                <a:solidFill>
                  <a:srgbClr val="1E2A3E"/>
                </a:solidFill>
                <a:latin typeface="Aptos"/>
              </a:rPr>
              <a:t>36 слоёв обрабатывают контекст и строят вероятности следующего токена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2057400"/>
            <a:ext cx="2057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49824" y="2267712"/>
            <a:ext cx="1728216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Контекст диалога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880360"/>
            <a:ext cx="171907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40" b="0">
                <a:solidFill>
                  <a:srgbClr val="1E2A3E"/>
                </a:solidFill>
                <a:latin typeface="Aptos"/>
              </a:rPr>
              <a:t>модель получает ограниченную историю сообщений и системные инструкции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2" y="2057400"/>
            <a:ext cx="2057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35824" y="2267712"/>
            <a:ext cx="1728216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Генерация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2880360"/>
            <a:ext cx="171907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40" b="0">
                <a:solidFill>
                  <a:srgbClr val="1E2A3E"/>
                </a:solidFill>
                <a:latin typeface="Aptos"/>
              </a:rPr>
              <a:t>ответ формируется последовательно, токен за токеном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57232" y="2057400"/>
            <a:ext cx="2057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21824" y="2267712"/>
            <a:ext cx="1728216" cy="384048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Policy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21824" y="2880360"/>
            <a:ext cx="1719072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40" b="0">
                <a:solidFill>
                  <a:srgbClr val="1E2A3E"/>
                </a:solidFill>
                <a:latin typeface="Aptos"/>
              </a:rPr>
              <a:t>после генерации ответ проверяется и при необходимости заменяется безопасным шаблоном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97480" y="2907792"/>
            <a:ext cx="384048" cy="256032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983480" y="2907792"/>
            <a:ext cx="384048" cy="256032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269480" y="2907792"/>
            <a:ext cx="384048" cy="256032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9555480" y="2907792"/>
            <a:ext cx="384048" cy="256032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24128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0">
                <a:solidFill>
                  <a:srgbClr val="5B6C80"/>
                </a:solidFill>
                <a:latin typeface="Aptos"/>
              </a:rPr>
              <a:t>В проекте Qwen3 запускается локально через Ollama. Это снижает зависимость от внешнего API и позволяет фиксировать версию модели в базе данных.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Safety-flow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Контур безопасности построен как обязательный слой до и после обращения к модели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331720" cy="1417320"/>
          </a:xfrm>
          <a:prstGeom prst="roundRect">
            <a:avLst/>
          </a:prstGeom>
          <a:solidFill>
            <a:srgbClr val="DEF5EE"/>
          </a:solidFill>
          <a:ln w="12700">
            <a:solidFill>
              <a:srgbClr val="169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69975"/>
                </a:solidFill>
                <a:latin typeface="Aptos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42032"/>
            <a:ext cx="1920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1E2A3E"/>
                </a:solidFill>
                <a:latin typeface="Aptos"/>
              </a:rPr>
              <a:t>обычный поддерживающий диалог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FEEDA"/>
          </a:solidFill>
          <a:ln w="12700">
            <a:solidFill>
              <a:srgbClr val="EB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05740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EB8F37"/>
                </a:solidFill>
                <a:latin typeface="Aptos"/>
              </a:rPr>
              <a:t>elevated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542032"/>
            <a:ext cx="1920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1E2A3E"/>
                </a:solidFill>
                <a:latin typeface="Aptos"/>
              </a:rPr>
              <a:t>уточнение состояния и мягкая рекомендация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331720" cy="1417320"/>
          </a:xfrm>
          <a:prstGeom prst="roundRect">
            <a:avLst/>
          </a:prstGeom>
          <a:solidFill>
            <a:srgbClr val="F9E1E1"/>
          </a:solidFill>
          <a:ln w="12700">
            <a:solidFill>
              <a:srgbClr val="C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CD4A4A"/>
                </a:solidFill>
                <a:latin typeface="Apto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42032"/>
            <a:ext cx="1920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1E2A3E"/>
                </a:solidFill>
                <a:latin typeface="Aptos"/>
              </a:rPr>
              <a:t>ASQ-сценарий и показ ресурсов помощи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828800"/>
            <a:ext cx="2331720" cy="1417320"/>
          </a:xfrm>
          <a:prstGeom prst="roundRect">
            <a:avLst/>
          </a:prstGeom>
          <a:solidFill>
            <a:srgbClr val="F9E1E1"/>
          </a:solidFill>
          <a:ln w="12700">
            <a:solidFill>
              <a:srgbClr val="C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05740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CD4A4A"/>
                </a:solidFill>
                <a:latin typeface="Aptos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542032"/>
            <a:ext cx="1920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0">
                <a:solidFill>
                  <a:srgbClr val="1E2A3E"/>
                </a:solidFill>
                <a:latin typeface="Aptos"/>
              </a:rPr>
              <a:t>блок свободной генерации, экстренные контакты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70">
                <a:solidFill>
                  <a:srgbClr val="1E2A3E"/>
                </a:solidFill>
                <a:latin typeface="Aptos"/>
              </a:defRPr>
            </a:pPr>
            <a:r>
              <a:t>Входной текст проверяется правилами и сценариями риска.</a:t>
            </a:r>
          </a:p>
          <a:p>
            <a:pPr>
              <a:spcAft>
                <a:spcPts val="700"/>
              </a:spcAft>
              <a:defRPr sz="1270">
                <a:solidFill>
                  <a:srgbClr val="1E2A3E"/>
                </a:solidFill>
                <a:latin typeface="Aptos"/>
              </a:defRPr>
            </a:pPr>
            <a:r>
              <a:t>При high/critical риск фиксируется в crisis_event и safety_route_audit.</a:t>
            </a:r>
          </a:p>
          <a:p>
            <a:pPr>
              <a:spcAft>
                <a:spcPts val="700"/>
              </a:spcAft>
              <a:defRPr sz="1270">
                <a:solidFill>
                  <a:srgbClr val="1E2A3E"/>
                </a:solidFill>
                <a:latin typeface="Aptos"/>
              </a:defRPr>
            </a:pPr>
            <a:r>
              <a:t>Для critical-сценария модель не даёт свободный совет; пользователь получает экстренные ресурсы из БД.</a:t>
            </a:r>
          </a:p>
          <a:p>
            <a:pPr>
              <a:spcAft>
                <a:spcPts val="700"/>
              </a:spcAft>
              <a:defRPr sz="1270">
                <a:solidFill>
                  <a:srgbClr val="1E2A3E"/>
                </a:solidFill>
                <a:latin typeface="Aptos"/>
              </a:defRPr>
            </a:pPr>
            <a:r>
              <a:t>После ответа выполняется response policy: запрет диагнозов, лекарственных назначений и выдуманных контактов.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Формирование ответа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Ответ не является сырым выводом модели: он проходит несколько контролируемых этапов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578608"/>
            <a:ext cx="320040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Сообщение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0632" y="2578608"/>
            <a:ext cx="320040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Оценка риска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45151" y="2578608"/>
            <a:ext cx="320040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Prompt-policy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799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9671" y="2578608"/>
            <a:ext cx="320040" cy="384048"/>
          </a:xfrm>
          <a:prstGeom prst="round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Qwen3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94192" y="2578608"/>
            <a:ext cx="320040" cy="384048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Response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39" y="2331720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68711" y="2578608"/>
            <a:ext cx="320040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59" y="2496312"/>
            <a:ext cx="914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>
                <a:solidFill>
                  <a:srgbClr val="1E2A3E"/>
                </a:solidFill>
                <a:latin typeface="Aptos"/>
              </a:rPr>
              <a:t>Ответ пользователю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59152" y="2651760"/>
            <a:ext cx="320040" cy="201168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233672" y="2651760"/>
            <a:ext cx="320040" cy="201168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6108192" y="2651760"/>
            <a:ext cx="320040" cy="201168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7982712" y="2651760"/>
            <a:ext cx="320040" cy="201168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9857232" y="2651760"/>
            <a:ext cx="320040" cy="201168"/>
          </a:xfrm>
          <a:prstGeom prst="rightArrow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188720" y="3977639"/>
            <a:ext cx="9829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2519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CD4A4A"/>
                </a:solidFill>
                <a:latin typeface="Aptos"/>
              </a:rPr>
              <a:t>Ограничения ответа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160520"/>
            <a:ext cx="72694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1E2A3E"/>
                </a:solidFill>
                <a:latin typeface="Aptos"/>
              </a:rPr>
              <a:t>Система не ставит диагноз, не назначает лекарства, не романтизирует самоповреждение, не выдумывает телефоны помощи и не оставляет critical-сценарий без маршрутизации.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 dirty="0" err="1">
                <a:solidFill>
                  <a:srgbClr val="0C192D"/>
                </a:solidFill>
                <a:latin typeface="Aptos"/>
              </a:rPr>
              <a:t>Программная</a:t>
            </a:r>
            <a:r>
              <a:rPr sz="2700" b="1" dirty="0">
                <a:solidFill>
                  <a:srgbClr val="0C19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0C192D"/>
                </a:solidFill>
                <a:latin typeface="Aptos"/>
              </a:rPr>
              <a:t>реализация</a:t>
            </a:r>
            <a:endParaRPr sz="2700" b="1" dirty="0">
              <a:solidFill>
                <a:srgbClr val="0C19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797814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3000" y="2084831"/>
            <a:ext cx="1691640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743200"/>
            <a:ext cx="190195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1E2A3E"/>
                </a:solidFill>
                <a:latin typeface="Aptos"/>
              </a:rPr>
              <a:t>Django REST Framework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сервисный слой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транзакции БД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82880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31920" y="2084831"/>
            <a:ext cx="1691640" cy="384048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2743200"/>
            <a:ext cx="190195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1E2A3E"/>
                </a:solidFill>
                <a:latin typeface="Aptos"/>
              </a:rPr>
              <a:t>React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чат пользователя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карта специалистов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20840" y="2084831"/>
            <a:ext cx="1691640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2743200"/>
            <a:ext cx="190195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>
                <a:solidFill>
                  <a:srgbClr val="1E2A3E"/>
                </a:solidFill>
                <a:latin typeface="Aptos"/>
              </a:rPr>
              <a:t>отдельный polling-процесс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общий chat service</a:t>
            </a:r>
            <a:r>
              <a:t/>
            </a:r>
            <a:br/>
            <a:r>
              <a:rPr sz="1120" b="0">
                <a:solidFill>
                  <a:srgbClr val="1E2A3E"/>
                </a:solidFill>
                <a:latin typeface="Aptos"/>
              </a:rPr>
              <a:t>ресурсы помощи из БД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82880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09759" y="2084831"/>
            <a:ext cx="1691640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Нейросеть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9176" y="2743200"/>
            <a:ext cx="1901952" cy="5539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20" b="0" dirty="0" err="1">
                <a:solidFill>
                  <a:srgbClr val="1E2A3E"/>
                </a:solidFill>
                <a:latin typeface="Aptos"/>
              </a:rPr>
              <a:t>Ollama</a:t>
            </a:r>
            <a:r>
              <a:rPr sz="1120" b="0" dirty="0">
                <a:solidFill>
                  <a:srgbClr val="1E2A3E"/>
                </a:solidFill>
                <a:latin typeface="Aptos"/>
              </a:rPr>
              <a:t> + Qwen3</a:t>
            </a:r>
            <a:r>
              <a:rPr dirty="0"/>
              <a:t/>
            </a:r>
            <a:br>
              <a:rPr dirty="0"/>
            </a:br>
            <a:r>
              <a:rPr lang="ru-RU" sz="1120" dirty="0" smtClean="0">
                <a:solidFill>
                  <a:srgbClr val="1E2A3E"/>
                </a:solidFill>
                <a:latin typeface="Aptos"/>
              </a:rPr>
              <a:t>актуальная версия</a:t>
            </a:r>
            <a:br>
              <a:rPr lang="ru-RU" sz="1120" dirty="0" smtClean="0">
                <a:solidFill>
                  <a:srgbClr val="1E2A3E"/>
                </a:solidFill>
                <a:latin typeface="Aptos"/>
              </a:rPr>
            </a:br>
            <a:r>
              <a:rPr lang="ru-RU" sz="1120" dirty="0" smtClean="0">
                <a:solidFill>
                  <a:srgbClr val="1E2A3E"/>
                </a:solidFill>
                <a:latin typeface="Aptos"/>
              </a:rPr>
              <a:t> модели содержится</a:t>
            </a:r>
            <a:r>
              <a:rPr sz="1120" b="0" dirty="0" smtClean="0">
                <a:solidFill>
                  <a:srgbClr val="1E2A3E"/>
                </a:solidFill>
                <a:latin typeface="Aptos"/>
              </a:rPr>
              <a:t> </a:t>
            </a:r>
            <a:r>
              <a:rPr sz="1120" b="0" dirty="0">
                <a:solidFill>
                  <a:srgbClr val="1E2A3E"/>
                </a:solidFill>
                <a:latin typeface="Aptos"/>
              </a:rPr>
              <a:t>в </a:t>
            </a:r>
            <a:r>
              <a:rPr sz="1120" b="0" dirty="0" smtClean="0">
                <a:solidFill>
                  <a:srgbClr val="1E2A3E"/>
                </a:solidFill>
                <a:latin typeface="Aptos"/>
              </a:rPr>
              <a:t>БД</a:t>
            </a:r>
            <a:endParaRPr sz="1120" b="0" dirty="0">
              <a:solidFill>
                <a:srgbClr val="1E2A3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14984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30" b="0">
                <a:solidFill>
                  <a:srgbClr val="5B6C80"/>
                </a:solidFill>
                <a:latin typeface="Aptos"/>
              </a:rPr>
              <a:t>Нейросетевая часть включает локальный запуск Qwen3, хранение версии модели, сбор контекста диалога, prompt-policy и финальную проверку response policy перед показом ответа пользователю.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Проверялась не только работоспособность интерфейса, но и устойчивость к вредным сценариям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500" b="1">
                <a:solidFill>
                  <a:srgbClr val="1474CD"/>
                </a:solidFill>
                <a:latin typeface="Aptos"/>
              </a:rPr>
              <a:t>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04872"/>
            <a:ext cx="1417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Aptos"/>
              </a:rPr>
              <a:t>автоматизированных теста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500" b="1">
                <a:solidFill>
                  <a:srgbClr val="EB8F37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04872"/>
            <a:ext cx="1417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Aptos"/>
              </a:rPr>
              <a:t>уровня риска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74519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500" b="1">
                <a:solidFill>
                  <a:srgbClr val="CD4A4A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404872"/>
            <a:ext cx="1417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Aptos"/>
              </a:rPr>
              <a:t>допустимых пропусков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1325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500" b="1">
                <a:solidFill>
                  <a:srgbClr val="169975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404872"/>
            <a:ext cx="1417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Aptos"/>
              </a:rPr>
              <a:t>канала общения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0287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913632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E2A3E"/>
                </a:solidFill>
                <a:latin typeface="Aptos"/>
              </a:defRPr>
            </a:pPr>
            <a:r>
              <a:t>unit-тесты сервисов chat и neural_engine;</a:t>
            </a:r>
          </a:p>
          <a:p>
            <a:pPr>
              <a:spcAft>
                <a:spcPts val="700"/>
              </a:spcAft>
              <a:defRPr sz="1220">
                <a:solidFill>
                  <a:srgbClr val="1E2A3E"/>
                </a:solidFill>
                <a:latin typeface="Aptos"/>
              </a:defRPr>
            </a:pPr>
            <a:r>
              <a:t>интеграционные тесты API, Telegram-бота и PostgreSQL;</a:t>
            </a:r>
          </a:p>
          <a:p>
            <a:pPr>
              <a:spcAft>
                <a:spcPts val="700"/>
              </a:spcAft>
              <a:defRPr sz="1220">
                <a:solidFill>
                  <a:srgbClr val="1E2A3E"/>
                </a:solidFill>
                <a:latin typeface="Aptos"/>
              </a:defRPr>
            </a:pPr>
            <a:r>
              <a:t>red-team набор фраз для проверки самоповреждения, угрозы жизни и опасных советов;</a:t>
            </a:r>
          </a:p>
          <a:p>
            <a:pPr>
              <a:spcAft>
                <a:spcPts val="700"/>
              </a:spcAft>
              <a:defRPr sz="1220">
                <a:solidFill>
                  <a:srgbClr val="1E2A3E"/>
                </a:solidFill>
                <a:latin typeface="Aptos"/>
              </a:defRPr>
            </a:pPr>
            <a:r>
              <a:t>проверка того, что critical-сценарии переводятся в emergency-response без свободной генерации.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0C192D"/>
                </a:solidFill>
                <a:latin typeface="Aptos"/>
              </a:rPr>
              <a:t>Результаты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Получен прототип сервиса и исследовательский контур безопасной нейросетевой консультации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17320"/>
            <a:ext cx="1234440" cy="50292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508760" cy="384048"/>
          </a:xfrm>
          <a:prstGeom prst="roundRect">
            <a:avLst/>
          </a:prstGeom>
          <a:solidFill>
            <a:srgbClr val="147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Сервис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10512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20" b="0">
                <a:solidFill>
                  <a:srgbClr val="1E2A3E"/>
                </a:solidFill>
                <a:latin typeface="Aptos"/>
              </a:rPr>
              <a:t>веб-интерфейс, Telegram-бот, Django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560320"/>
            <a:ext cx="1508760" cy="384048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87751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20" b="0">
                <a:solidFill>
                  <a:srgbClr val="1E2A3E"/>
                </a:solidFill>
                <a:latin typeface="Aptos"/>
              </a:rPr>
              <a:t>PostgreSQL, ER-модель, история диалога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337560"/>
            <a:ext cx="1508760" cy="384048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Нейросеть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64991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20" b="0">
                <a:solidFill>
                  <a:srgbClr val="1E2A3E"/>
                </a:solidFill>
                <a:latin typeface="Aptos"/>
              </a:rPr>
              <a:t>Qwen3 через Ollama, версия модели в БД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14800"/>
            <a:ext cx="1508760" cy="384048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Безопасность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42232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20" b="0">
                <a:solidFill>
                  <a:srgbClr val="1E2A3E"/>
                </a:solidFill>
                <a:latin typeface="Aptos"/>
              </a:rPr>
              <a:t>risk levels, ASQ-сценарий, safety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92040"/>
            <a:ext cx="1508760" cy="384048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Тестирование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19472"/>
            <a:ext cx="7132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20" b="0">
                <a:solidFill>
                  <a:srgbClr val="1E2A3E"/>
                </a:solidFill>
                <a:latin typeface="Aptos"/>
              </a:rPr>
              <a:t>функциональные и red-team сценарии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32120"/>
            <a:ext cx="9966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5669280"/>
            <a:ext cx="9418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80" b="0">
                <a:solidFill>
                  <a:srgbClr val="5B6C80"/>
                </a:solidFill>
                <a:latin typeface="Aptos"/>
              </a:rPr>
              <a:t>Практический результат: основа полноценного сервиса первичной психологической поддержки с возможностью дальнейшей экспертной разметки и LoRA-адаптации.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46520"/>
            <a:ext cx="1645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Aptos"/>
              </a:rPr>
              <a:t>MindHelper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7392" y="6446520"/>
            <a:ext cx="502920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>
                <a:solidFill>
                  <a:srgbClr val="5B6C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05637" y="2533689"/>
            <a:ext cx="9230000" cy="1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 fontScale="62500" lnSpcReduction="20000"/>
          </a:bodyPr>
          <a:lstStyle/>
          <a:p>
            <a:r>
              <a:rPr lang="ru-RU" sz="4000" b="1" dirty="0">
                <a:latin typeface="Aptos"/>
              </a:rPr>
              <a:t>Вопросно-ответная система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b="1" dirty="0">
                <a:latin typeface="Aptos"/>
              </a:rPr>
              <a:t>для предварительной психологической диагностики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b="1" dirty="0">
                <a:latin typeface="Aptos"/>
              </a:rPr>
              <a:t>на основе </a:t>
            </a:r>
            <a:r>
              <a:rPr lang="ru-RU" sz="4000" b="1" dirty="0" err="1">
                <a:latin typeface="Aptos"/>
              </a:rPr>
              <a:t>нейросети</a:t>
            </a:r>
            <a:endParaRPr lang="ru-RU" sz="4000" b="1" dirty="0">
              <a:latin typeface="Apto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481137" y="510707"/>
            <a:ext cx="9230000" cy="16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 fontScale="85000" lnSpcReduction="10000"/>
          </a:bodyPr>
          <a:lstStyle/>
          <a:p>
            <a:pPr marL="84665" indent="-129537" algn="ctr">
              <a:lnSpc>
                <a:spcPct val="85000"/>
              </a:lnSpc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МИНОБРНАУКИ РОССИИ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ФЕДЕРАЛЬНОЕ ГОСУДАРСТВЕННОЕ БЮДЖЕТНОЕ ОБРАЗОВАТЕЛЬНОЕ УЧРЕЖДЕНИЕ 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ВЫСШЕГО ОБРАЗОВАНИЯ</a:t>
            </a:r>
            <a:endParaRPr sz="1467" dirty="0"/>
          </a:p>
          <a:p>
            <a:pPr marL="84665" indent="-129537" algn="ctr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00000"/>
              <a:buFont typeface="Arial"/>
              <a:buChar char=" "/>
            </a:pPr>
            <a:r>
              <a:rPr lang="ru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“ВОРОНЕЖСКИЙ ГОСУДАРСТВЕННЫЙ УНИВЕРСИТЕТ”</a:t>
            </a:r>
            <a:endParaRPr sz="1467" dirty="0"/>
          </a:p>
        </p:txBody>
      </p:sp>
      <p:cxnSp>
        <p:nvCxnSpPr>
          <p:cNvPr id="56" name="Google Shape;56;p13"/>
          <p:cNvCxnSpPr/>
          <p:nvPr/>
        </p:nvCxnSpPr>
        <p:spPr>
          <a:xfrm>
            <a:off x="927313" y="3947111"/>
            <a:ext cx="1033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 txBox="1"/>
          <p:nvPr/>
        </p:nvSpPr>
        <p:spPr>
          <a:xfrm>
            <a:off x="1481137" y="4117175"/>
            <a:ext cx="3644800" cy="7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84665" indent="-118530">
              <a:lnSpc>
                <a:spcPct val="85000"/>
              </a:lnSpc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1867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Выполнил</a:t>
            </a:r>
            <a:endParaRPr sz="1467" dirty="0"/>
          </a:p>
          <a:p>
            <a:pPr marL="84665" indent="-118530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1867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Научный руководитель</a:t>
            </a:r>
            <a:endParaRPr sz="1467" dirty="0"/>
          </a:p>
        </p:txBody>
      </p:sp>
      <p:sp>
        <p:nvSpPr>
          <p:cNvPr id="58" name="Google Shape;58;p13"/>
          <p:cNvSpPr txBox="1"/>
          <p:nvPr/>
        </p:nvSpPr>
        <p:spPr>
          <a:xfrm>
            <a:off x="8626003" y="4477864"/>
            <a:ext cx="1755670" cy="7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err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Шишко</a:t>
            </a: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u-RU" sz="20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Ю.В.</a:t>
            </a:r>
            <a:endParaRPr lang="ru-RU" sz="2000" dirty="0"/>
          </a:p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ассистент</a:t>
            </a:r>
            <a:endParaRPr sz="2000" dirty="0"/>
          </a:p>
        </p:txBody>
      </p:sp>
      <p:sp>
        <p:nvSpPr>
          <p:cNvPr id="59" name="Google Shape;59;p13"/>
          <p:cNvSpPr txBox="1"/>
          <p:nvPr/>
        </p:nvSpPr>
        <p:spPr>
          <a:xfrm>
            <a:off x="4974115" y="6189012"/>
            <a:ext cx="2243996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18530">
              <a:lnSpc>
                <a:spcPct val="85000"/>
              </a:lnSpc>
              <a:buClr>
                <a:srgbClr val="262626"/>
              </a:buClr>
              <a:buSzPts val="1400"/>
              <a:buFont typeface="Arial"/>
              <a:buChar char=" "/>
            </a:pPr>
            <a:r>
              <a:rPr lang="ru" sz="22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Воронеж </a:t>
            </a:r>
            <a:r>
              <a:rPr lang="ru" sz="2200" dirty="0" smtClean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ru" sz="22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200" dirty="0"/>
          </a:p>
        </p:txBody>
      </p:sp>
      <p:sp>
        <p:nvSpPr>
          <p:cNvPr id="8" name="Google Shape;58;p13"/>
          <p:cNvSpPr txBox="1"/>
          <p:nvPr/>
        </p:nvSpPr>
        <p:spPr>
          <a:xfrm>
            <a:off x="8626003" y="4073264"/>
            <a:ext cx="1909634" cy="41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84665" indent="-109641">
              <a:lnSpc>
                <a:spcPct val="85000"/>
              </a:lnSpc>
              <a:spcBef>
                <a:spcPts val="1333"/>
              </a:spcBef>
              <a:buClr>
                <a:srgbClr val="262626"/>
              </a:buClr>
              <a:buSzPct val="127273"/>
              <a:buFont typeface="Arial"/>
              <a:buChar char=" "/>
            </a:pP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Кретов </a:t>
            </a:r>
            <a:r>
              <a:rPr lang="ru-RU" sz="20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Д</a:t>
            </a:r>
            <a:r>
              <a:rPr lang="ru-RU" sz="2000" dirty="0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.В.</a:t>
            </a: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63019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1105</Words>
  <Application>Microsoft Office PowerPoint</Application>
  <PresentationFormat>Широкоэкранный</PresentationFormat>
  <Paragraphs>224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Даниил Кретов</cp:lastModifiedBy>
  <cp:revision>5</cp:revision>
  <dcterms:created xsi:type="dcterms:W3CDTF">2013-01-27T09:14:16Z</dcterms:created>
  <dcterms:modified xsi:type="dcterms:W3CDTF">2026-05-02T15:21:22Z</dcterms:modified>
  <cp:category/>
</cp:coreProperties>
</file>